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ZengQiangXianShi/ArtSource/References/20260908_naiwa_assets/milkyfrog_official/mf-pose-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23444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课程设计开题报告 · 2026 年 9 月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22960" y="1600200"/>
            <a:ext cx="66751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基于图像跟踪与行为状态驱动的</a:t>
            </a:r>
            <a:endParaRPr lang="en-US" sz="3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 AR 萌宠互动系统设计与实现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22960" y="384048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产品暂名 「桌上有龙」</a:t>
            </a: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Unity + Vuforia 图像跟踪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zh-CN" alt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</a:t>
            </a: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人独立开发</a:t>
            </a: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约 4 周 · Android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617720"/>
            <a:ext cx="5120640" cy="0"/>
          </a:xfrm>
          <a:prstGeom prst="line">
            <a:avLst/>
          </a:prstGeom>
          <a:noFill/>
          <a:ln w="12700">
            <a:solidFill>
              <a:srgbClr val="4A3E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4632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张俊城、钱超、杜宗熠</a:t>
            </a:r>
            <a:r>
              <a:rPr 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班级：</a:t>
            </a:r>
            <a:r>
              <a:rPr lang="zh-CN" alt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</a:t>
            </a:r>
            <a:r>
              <a:rPr lang="en-US" altLang="zh-CN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2402</a:t>
            </a:r>
            <a:r>
              <a:rPr 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指导教师：</a:t>
            </a:r>
            <a:r>
              <a:rPr lang="zh-CN" altLang="en-US" sz="130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谢青</a:t>
            </a:r>
            <a:endParaRPr lang="zh-CN" altLang="en-US" sz="1300" dirty="0">
              <a:solidFill>
                <a:srgbClr val="C9BF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18120" y="56235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8D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角色形象为风格参考 · 最终采用原创设计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187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91640" y="13898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选题背景与意义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91640" y="188366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两条成熟需求的交叉点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2633472"/>
            <a:ext cx="4297680" cy="0"/>
          </a:xfrm>
          <a:prstGeom prst="line">
            <a:avLst/>
          </a:prstGeom>
          <a:noFill/>
          <a:ln w="12700">
            <a:solidFill>
              <a:srgbClr val="E8E1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5351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691640" y="308152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国内外现状与机会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357530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品类标杆离场后的空档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4325112"/>
            <a:ext cx="4297680" cy="0"/>
          </a:xfrm>
          <a:prstGeom prst="line">
            <a:avLst/>
          </a:prstGeom>
          <a:noFill/>
          <a:ln w="12700">
            <a:solidFill>
              <a:srgbClr val="E8E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4515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91640" y="477316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研究目标与特色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52669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一个闭环 · 五个问题 · 四点特色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26187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635240" y="13898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系统设计与功能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240" y="188366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五层架构 · FR-01~09 · 投喂结算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2633472"/>
            <a:ext cx="4297680" cy="0"/>
          </a:xfrm>
          <a:prstGeom prst="line">
            <a:avLst/>
          </a:prstGeom>
          <a:noFill/>
          <a:ln w="12700">
            <a:solidFill>
              <a:srgbClr val="E8E1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5351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635240" y="308152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技术路线与资产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35240" y="357530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Unity + Vuforia · 奶蛙风格原创角色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4325112"/>
            <a:ext cx="4297680" cy="0"/>
          </a:xfrm>
          <a:prstGeom prst="line">
            <a:avLst/>
          </a:prstGeom>
          <a:noFill/>
          <a:ln w="12700">
            <a:solidFill>
              <a:srgbClr val="E8E1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45152"/>
            <a:ext cx="1188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635240" y="477316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 · 验证 · 成果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35240" y="52669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四周排期 · 验收矩阵 · 交付清单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选题背景：两条被长期验证的需求，在桌面相遇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公开资料检索日期 2026-09-09，数字均注明来源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FBF7EE"/>
          </a:solidFill>
        </p:spPr>
      </p:sp>
      <p:sp>
        <p:nvSpPr>
          <p:cNvPr id="5" name="Text 3"/>
          <p:cNvSpPr/>
          <p:nvPr/>
        </p:nvSpPr>
        <p:spPr>
          <a:xfrm>
            <a:off x="731520" y="192024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9,810 万台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拓麻歌子系列硬件累计销量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电子宠物陪伴需求跨越五十年代际（截至 2025，维基百科）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60020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FBF7EE"/>
          </a:solidFill>
        </p:spPr>
      </p:sp>
      <p:sp>
        <p:nvSpPr>
          <p:cNvPr id="9" name="Text 7"/>
          <p:cNvSpPr/>
          <p:nvPr/>
        </p:nvSpPr>
        <p:spPr>
          <a:xfrm>
            <a:off x="4672584" y="192024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390 万+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72584" y="2880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《旅行青蛙》中国大陆两周下载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72584" y="36118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2018-01 登顶免费榜：轻度陪伴 + 照片分享的爆发力（维基百科）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39328" y="160020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F8F1E2"/>
          </a:solidFill>
        </p:spPr>
      </p:sp>
      <p:sp>
        <p:nvSpPr>
          <p:cNvPr id="13" name="Text 11"/>
          <p:cNvSpPr/>
          <p:nvPr/>
        </p:nvSpPr>
        <p:spPr>
          <a:xfrm>
            <a:off x="8613648" y="192024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依赖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613648" y="2880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Vuforia 图像跟踪对 GMS 的依赖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13648" y="36118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纯视觉方案可在国产安卓（iQOO Z9 Turbo 等）落地，与 ARCore 路线解耦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　</a:t>
            </a:r>
            <a:r>
              <a:rPr lang="en-US" sz="15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“照料虚拟生物”与“把角色放进现实”各自成熟，但两者的轻量结合——桌面 AR 萌宠——仍缺少能长期留在用户手机里的单机形态。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 AR 萌宠产品现状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据公开资料整理（维基百科 / 官方文档 / App Store），检索日期 2026-09-09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417320"/>
          <a:ext cx="11274552" cy="3968496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3017520"/>
                <a:gridCol w="3136392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现状（截至 2026-09）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 / 玩法路线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对本课题的启示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Peridot（Niantic）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33B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2023-05 上线，2026-08-31 移动版停运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CV 识别真实环境 + AI 对话；扩展头显与眼镜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技术最强者离场：重运营 + 强内购 + 云依赖难以为继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Pokémon GO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2016 上线，运营中（2025 归 Scopely）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LBS 捕捉；相机 AR 模式；Snapshot 拍照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验证大众吸引力与拍照留念需求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《一起来捉妖》（腾讯）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33B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2019 公测；2023-2024 更新停滞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国内首款 LBS+AR 探索手游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强制出门 + 交易竞争放大负担，加速流失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 Dragon（PlaySide）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33B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2017 上线，2023-02 后基本停更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ARKit 单机养龙：孵化/喂养/装扮/拍照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小团队可完成轻量闭环；生命周期短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拓麻歌子系列（万代）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2021/2021/2023 持续迭代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实体掌机：摄像头合影、实体卡扩展内容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实体道具与合影玩法有成熟先例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Google 搜索 3D 动物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功能可用（国内设备不可用）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Scene Viewer 系统级放置 3D 模型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4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“单点放置”不构成产品；国内存在空位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2636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说明：产品均未实测，互动体验描述来自官方与公开资料；停运/停更以公开记载为准。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现状信号：品类标杆离场，空档清晰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3291840"/>
          </a:xfrm>
          <a:prstGeom prst="roundRect">
            <a:avLst>
              <a:gd name="adj" fmla="val 1944"/>
            </a:avLst>
          </a:prstGeom>
          <a:solidFill>
            <a:srgbClr val="F8F1E2"/>
          </a:solidFill>
        </p:spPr>
      </p:sp>
      <p:sp>
        <p:nvSpPr>
          <p:cNvPr id="4" name="Text 2"/>
          <p:cNvSpPr/>
          <p:nvPr/>
        </p:nvSpPr>
        <p:spPr>
          <a:xfrm>
            <a:off x="822960" y="182880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2026-08-31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Peridot 移动版停运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上线仅三年余的品类标杆（Niantic → Niantic Spatial）。视觉与 AR 技术受好评，付费模式遭批评（维基百科）。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788152" cy="960120"/>
          </a:xfrm>
          <a:prstGeom prst="roundRect">
            <a:avLst>
              <a:gd name="adj" fmla="val 6667"/>
            </a:avLst>
          </a:prstGeom>
          <a:solidFill>
            <a:srgbClr val="FBF7EE"/>
          </a:solidFill>
        </p:spPr>
      </p:sp>
      <p:sp>
        <p:nvSpPr>
          <p:cNvPr id="8" name="Text 6"/>
          <p:cNvSpPr/>
          <p:nvPr/>
        </p:nvSpPr>
        <p:spPr>
          <a:xfrm>
            <a:off x="6217920" y="159105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 Dragon 停更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9568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2023-02 后无更新：新鲜感产品的生命周期短板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606040"/>
            <a:ext cx="5788152" cy="960120"/>
          </a:xfrm>
          <a:prstGeom prst="roundRect">
            <a:avLst>
              <a:gd name="adj" fmla="val 6667"/>
            </a:avLst>
          </a:prstGeom>
          <a:solidFill>
            <a:srgbClr val="FBF7EE"/>
          </a:solidFill>
        </p:spPr>
      </p:sp>
      <p:sp>
        <p:nvSpPr>
          <p:cNvPr id="11" name="Text 9"/>
          <p:cNvSpPr/>
          <p:nvPr/>
        </p:nvSpPr>
        <p:spPr>
          <a:xfrm>
            <a:off x="6217920" y="273405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《一起来捉妖》边缘化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30998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LBS 强制出门 + 交易竞争，2022 年起被评“已凉”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749040"/>
            <a:ext cx="5788152" cy="960120"/>
          </a:xfrm>
          <a:prstGeom prst="roundRect">
            <a:avLst>
              <a:gd name="adj" fmla="val 6667"/>
            </a:avLst>
          </a:prstGeom>
          <a:solidFill>
            <a:srgbClr val="FBF7EE"/>
          </a:solidFill>
        </p:spPr>
      </p:sp>
      <p:sp>
        <p:nvSpPr>
          <p:cNvPr id="14" name="Text 12"/>
          <p:cNvSpPr/>
          <p:nvPr/>
        </p:nvSpPr>
        <p:spPr>
          <a:xfrm>
            <a:off x="6217920" y="387705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谷歌 3D 动物国内不可用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2428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 GMS 的系统级方案覆盖不了国产主流安卓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26201A"/>
          </a:solidFill>
        </p:spPr>
      </p:sp>
      <p:sp>
        <p:nvSpPr>
          <p:cNvPr id="17" name="Text 15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机会空档　</a:t>
            </a:r>
            <a:r>
              <a:rPr lang="en-US" sz="155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无服务器、可长期离线拥有、以实体道具交互的单机 AR 萌宠，在国产安卓设备上基本无人占据——本课题正好落在这个空档。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研究目标与拟解决的问题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F8F1E2"/>
          </a:solidFill>
        </p:spPr>
      </p:sp>
      <p:sp>
        <p:nvSpPr>
          <p:cNvPr id="4" name="Text 2"/>
          <p:cNvSpPr/>
          <p:nvPr/>
        </p:nvSpPr>
        <p:spPr>
          <a:xfrm>
            <a:off x="777240" y="1463040"/>
            <a:ext cx="10698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总体目标　</a:t>
            </a:r>
            <a:r>
              <a:rPr lang="en-US" sz="13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在普通安卓设备上实现「定位召唤—实体投喂—行为反馈—趣味互动—反应解锁—存档与拍照」完整闭环；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验证图像跟踪与行为状态驱动机制在移动 AR 萌宠中的应用可行性。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62432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空间稳定性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80160" y="299008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手持设备上维持角色与实体标记的可用空间关系；跟踪丢失与恢复期间不产生错误交互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831336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8130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交互确定性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80160" y="419709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“靠近—停留—移开”的连续动作转化为恰好一次的有效投喂，排除误触发与重复结算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5038344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50200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行为可理解性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80160" y="5404104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同一操作在不同状态下反馈不同（饿则进食、饱则拒绝、困则迟钝），玩家能“读懂”宠物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262432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23760" y="2606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资产可行性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23760" y="299008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单人、数周、无外包条件下产出有表现力的角色，并保住移动端帧率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3831336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38130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工程完整性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23760" y="419709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识别、交互、动画、存档、拍照、真机测试全链路闭环，成果可安装、可演示、可复现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预期特色与创新点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8F1E2"/>
          </a:solidFill>
        </p:spPr>
      </p:sp>
      <p:sp>
        <p:nvSpPr>
          <p:cNvPr id="4" name="Text 2"/>
          <p:cNvSpPr/>
          <p:nvPr/>
        </p:nvSpPr>
        <p:spPr>
          <a:xfrm>
            <a:off x="713232" y="1563624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527048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实体道具输入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食物卡靠近小窝卡即完成投喂，图像标记同时是产品道具——手机 AR 萌宠中无直接竞品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551176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BF7EE"/>
          </a:solidFill>
        </p:spPr>
      </p:sp>
      <p:sp>
        <p:nvSpPr>
          <p:cNvPr id="8" name="Text 6"/>
          <p:cNvSpPr/>
          <p:nvPr/>
        </p:nvSpPr>
        <p:spPr>
          <a:xfrm>
            <a:off x="713232" y="26974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660904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可解释的行为状态驱动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71600" y="3035808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拒绝生成式 AI 黑箱：状态机规则可配置、可测试、可复现，“宠物有性格”来自透明规则而非算力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85032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8F1E2"/>
          </a:solidFill>
        </p:spPr>
      </p:sp>
      <p:sp>
        <p:nvSpPr>
          <p:cNvPr id="12" name="Text 10"/>
          <p:cNvSpPr/>
          <p:nvPr/>
        </p:nvSpPr>
        <p:spPr>
          <a:xfrm>
            <a:off x="713232" y="3831336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单机轻量 · 数据归用户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71600" y="4169664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无服务器、无内购、本地版本化存档——对照 Peridot 停运，“宠物真正属于用户”是结构性优势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818888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BF7EE"/>
          </a:solidFill>
        </p:spPr>
      </p:sp>
      <p:sp>
        <p:nvSpPr>
          <p:cNvPr id="16" name="Text 14"/>
          <p:cNvSpPr/>
          <p:nvPr/>
        </p:nvSpPr>
        <p:spPr>
          <a:xfrm>
            <a:off x="713232" y="496519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4928616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面向国产中端设备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71600" y="5303520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跟踪不依赖 GMS；以 iQOO Z9 Turbo（Android 15）为首要实测平台，如实记录能力边界</a:t>
            </a:r>
            <a:endParaRPr lang="en-US" sz="1150" dirty="0"/>
          </a:p>
        </p:txBody>
      </p:sp>
      <p:pic>
        <p:nvPicPr>
          <p:cNvPr id="19" name="Image 0" descr="D:/ZengQiangXianShi/ArtSource/References/20260908_naiwa_assets/milkyfrog_official/mf-pose-bell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828800"/>
            <a:ext cx="3108960" cy="31089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41080" y="49834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角色：奶蛙风格 · 原创设计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系统总体设计：五层架构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跟踪层不结算数值 · 行为层统一裁决 · 表现层只执行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26201A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1848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摄像头与图像跟踪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" y="1975104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Vuforia Image Targets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1848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目标坐标与跟踪状态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35424" y="1975104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小窝局部坐标系 · 米制 · 四态提示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03920" y="1554480"/>
            <a:ext cx="3227832" cy="868680"/>
          </a:xfrm>
          <a:prstGeom prst="roundRect">
            <a:avLst>
              <a:gd name="adj" fmla="val 6316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618488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触屏输入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58784" y="1975104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逗弄 / 追球 · 不穿透到角色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88036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94436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交互判定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3300984"/>
            <a:ext cx="3273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距离+高度+停留+冷却 · 一次性事件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434340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26201A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44074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行为状态机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5424" y="4764024"/>
            <a:ext cx="3273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饥饿·开心·困倦 × 行为优先级 · 一次性结算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4074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" y="4764024"/>
            <a:ext cx="32735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ScriptableObject：食物 / 阈值 / 反应条件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03920" y="4343400"/>
            <a:ext cx="3227832" cy="1143000"/>
          </a:xfrm>
          <a:prstGeom prst="roundRect">
            <a:avLst>
              <a:gd name="adj" fmla="val 4800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0" y="4407408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本地存档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58784" y="4764024"/>
            <a:ext cx="31181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版本化 JSON · 异常回退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5779008"/>
            <a:ext cx="3383280" cy="731520"/>
          </a:xfrm>
          <a:prstGeom prst="roundRect">
            <a:avLst>
              <a:gd name="adj" fmla="val 7500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584301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表现层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" y="6199632"/>
            <a:ext cx="32735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Animator 动画 · 表情 · 音效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5779008"/>
            <a:ext cx="3383280" cy="731520"/>
          </a:xfrm>
          <a:prstGeom prst="roundRect">
            <a:avLst>
              <a:gd name="adj" fmla="val 7500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0" y="584301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35424" y="6199632"/>
            <a:ext cx="32735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uGUI 状态面板 · 反应图鉴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03920" y="5779008"/>
            <a:ext cx="3227832" cy="731520"/>
          </a:xfrm>
          <a:prstGeom prst="roundRect">
            <a:avLst>
              <a:gd name="adj" fmla="val 7500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03920" y="5843016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拍照合成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58784" y="6199632"/>
            <a:ext cx="31181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摄像头背景 + 角色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1984248"/>
            <a:ext cx="6400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7863840" y="1984248"/>
            <a:ext cx="6400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72200" y="2423160"/>
            <a:ext cx="0" cy="45720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72200" y="3886200"/>
            <a:ext cx="0" cy="45720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40480" y="4910328"/>
            <a:ext cx="6400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63840" y="4910328"/>
            <a:ext cx="6400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headEnd type="triangl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72200" y="5486400"/>
            <a:ext cx="0" cy="292608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148840" y="5486400"/>
            <a:ext cx="4023360" cy="292608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172200" y="5486400"/>
            <a:ext cx="3950208" cy="292608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基线功能设计（FR-01 ~ FR-09）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首版 1 个角色；核心互动为投喂、逗弄、追球；约 5~6 类基础动作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5" name="Text 3"/>
          <p:cNvSpPr/>
          <p:nvPr/>
        </p:nvSpPr>
        <p:spPr>
          <a:xfrm>
            <a:off x="658368" y="172821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02082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小窝定位与召唤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3865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单张已知尺寸卡片建立角色局部坐标系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98264" y="160020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9" name="Text 7"/>
          <p:cNvSpPr/>
          <p:nvPr/>
        </p:nvSpPr>
        <p:spPr>
          <a:xfrm>
            <a:off x="4599432" y="172821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02082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跟踪状态处理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9432" y="23865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识别/有效/丢失/恢复四态提示；丢失即暂停新交互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39328" y="1600200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8F1E2"/>
          </a:solidFill>
        </p:spPr>
      </p:sp>
      <p:sp>
        <p:nvSpPr>
          <p:cNvPr id="13" name="Text 11"/>
          <p:cNvSpPr/>
          <p:nvPr/>
        </p:nvSpPr>
        <p:spPr>
          <a:xfrm>
            <a:off x="8540496" y="172821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40496" y="202082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实体投喂 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40496" y="23865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双卡跟踪 + 距离/高度/停留/冷却；一次进入仅结算一次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17" name="Text 15"/>
          <p:cNvSpPr/>
          <p:nvPr/>
        </p:nvSpPr>
        <p:spPr>
          <a:xfrm>
            <a:off x="658368" y="320954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50215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触屏逗弄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8368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点击/滑动触发反馈；界面输入不穿透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98264" y="3081528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21" name="Text 19"/>
          <p:cNvSpPr/>
          <p:nvPr/>
        </p:nvSpPr>
        <p:spPr>
          <a:xfrm>
            <a:off x="4599432" y="320954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9432" y="350215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简单追球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9432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标记定义的虚拟平面内投放小球，角色限范围追逐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39328" y="3081528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25" name="Text 23"/>
          <p:cNvSpPr/>
          <p:nvPr/>
        </p:nvSpPr>
        <p:spPr>
          <a:xfrm>
            <a:off x="8540496" y="320954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0496" y="350215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状态行为反馈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40496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饥饿/开心/困倦状态 × 进食/移动/休息行为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562856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29" name="Text 27"/>
          <p:cNvSpPr/>
          <p:nvPr/>
        </p:nvSpPr>
        <p:spPr>
          <a:xfrm>
            <a:off x="658368" y="46908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498348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反应解锁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8368" y="5349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状态组合解锁少量趣味反应，图鉴展示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98264" y="4562856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33" name="Text 31"/>
          <p:cNvSpPr/>
          <p:nvPr/>
        </p:nvSpPr>
        <p:spPr>
          <a:xfrm>
            <a:off x="4599432" y="46908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9432" y="498348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本地存档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99432" y="5349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版本化 JSON；重启恢复；异常回退默认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39328" y="4562856"/>
            <a:ext cx="3657600" cy="1298448"/>
          </a:xfrm>
          <a:prstGeom prst="roundRect">
            <a:avLst>
              <a:gd name="adj" fmla="val 4930"/>
            </a:avLst>
          </a:prstGeom>
          <a:solidFill>
            <a:srgbClr val="FBF7EE"/>
          </a:solidFill>
        </p:spPr>
      </p:sp>
      <p:sp>
        <p:nvSpPr>
          <p:cNvPr id="37" name="Text 35"/>
          <p:cNvSpPr/>
          <p:nvPr/>
        </p:nvSpPr>
        <p:spPr>
          <a:xfrm>
            <a:off x="8540496" y="46908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FR-09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0496" y="498348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拍照留念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540496" y="5349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合成截图保存；失败路径有明确反馈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后续可选扩展（不计入验收）：视频导出 · 多角色多食物 · 手部追踪 · 真实遮挡 · 语音对话 · 联网多人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关键机制：把“卡片靠近”变成恰好一次投喂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对应拟解决问题 2：交互确定性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5" name="Shape 3"/>
          <p:cNvSpPr/>
          <p:nvPr/>
        </p:nvSpPr>
        <p:spPr>
          <a:xfrm>
            <a:off x="658368" y="180136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6" name="Text 4"/>
          <p:cNvSpPr/>
          <p:nvPr/>
        </p:nvSpPr>
        <p:spPr>
          <a:xfrm>
            <a:off x="658368" y="18013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双目标有效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小窝卡与食物卡同时处于有效跟踪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58768" y="2286000"/>
            <a:ext cx="521208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98264" y="160020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11" name="Shape 9"/>
          <p:cNvSpPr/>
          <p:nvPr/>
        </p:nvSpPr>
        <p:spPr>
          <a:xfrm>
            <a:off x="4599432" y="180136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2" name="Text 10"/>
          <p:cNvSpPr/>
          <p:nvPr/>
        </p:nvSpPr>
        <p:spPr>
          <a:xfrm>
            <a:off x="4599432" y="18013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12664" y="187452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坐标转换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食物卡位置换算到小窝局部坐标系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99832" y="2286000"/>
            <a:ext cx="521208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39328" y="160020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17" name="Shape 15"/>
          <p:cNvSpPr/>
          <p:nvPr/>
        </p:nvSpPr>
        <p:spPr>
          <a:xfrm>
            <a:off x="8540496" y="180136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8" name="Text 16"/>
          <p:cNvSpPr/>
          <p:nvPr/>
        </p:nvSpPr>
        <p:spPr>
          <a:xfrm>
            <a:off x="8540496" y="18013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3728" y="187452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区域判定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58784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平面距离 + 高度范围构成投喂区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22" name="Shape 20"/>
          <p:cNvSpPr/>
          <p:nvPr/>
        </p:nvSpPr>
        <p:spPr>
          <a:xfrm>
            <a:off x="658368" y="353872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3" name="Text 21"/>
          <p:cNvSpPr/>
          <p:nvPr/>
        </p:nvSpPr>
        <p:spPr>
          <a:xfrm>
            <a:off x="658368" y="3538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61188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停留计时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" y="417880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进入投喂区并保持可配置时长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58768" y="4023360"/>
            <a:ext cx="521208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98264" y="333756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28" name="Shape 26"/>
          <p:cNvSpPr/>
          <p:nvPr/>
        </p:nvSpPr>
        <p:spPr>
          <a:xfrm>
            <a:off x="4599432" y="353872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9" name="Text 27"/>
          <p:cNvSpPr/>
          <p:nvPr/>
        </p:nvSpPr>
        <p:spPr>
          <a:xfrm>
            <a:off x="4599432" y="3538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12664" y="361188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行为裁决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417880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状态机接受进食或给出拒绝反应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99832" y="4023360"/>
            <a:ext cx="521208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339328" y="333756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BF7EE"/>
          </a:solidFill>
        </p:spPr>
      </p:sp>
      <p:sp>
        <p:nvSpPr>
          <p:cNvPr id="34" name="Shape 32"/>
          <p:cNvSpPr/>
          <p:nvPr/>
        </p:nvSpPr>
        <p:spPr>
          <a:xfrm>
            <a:off x="8540496" y="3538728"/>
            <a:ext cx="566928" cy="5669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35" name="Text 33"/>
          <p:cNvSpPr/>
          <p:nvPr/>
        </p:nvSpPr>
        <p:spPr>
          <a:xfrm>
            <a:off x="8540496" y="3538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53728" y="361188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结算一次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58784" y="417880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动画事件确定时刻结算 + 进入冷却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534924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26201A"/>
          </a:solidFill>
        </p:spPr>
      </p:sp>
      <p:sp>
        <p:nvSpPr>
          <p:cNvPr id="39" name="Text 37"/>
          <p:cNvSpPr/>
          <p:nvPr/>
        </p:nvSpPr>
        <p:spPr>
          <a:xfrm>
            <a:off x="822960" y="54589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边界规则　</a:t>
            </a:r>
            <a:r>
              <a:rPr lang="en-US" sz="135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跟踪丢失立即暂停计时与交互；恢复跟踪不自动补一次投喂；移开后须再次进入并满足冷却，才允许下一次结算。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角色资产方案：奶蛙风格的原创设计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已建立量化建模简报：比例表 · 实测色值 · 分部位要点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651760"/>
          </a:xfrm>
          <a:prstGeom prst="roundRect">
            <a:avLst>
              <a:gd name="adj" fmla="val 2414"/>
            </a:avLst>
          </a:prstGeom>
          <a:solidFill>
            <a:srgbClr val="FBF7EE"/>
          </a:solidFill>
        </p:spPr>
      </p:sp>
      <p:pic>
        <p:nvPicPr>
          <p:cNvPr id="5" name="Image 0" descr="D:/ZengQiangXianShi/ArtSource/References/20260908_naiwa_assets/milkyfrog_official/mf-pose-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10128" y="1554480"/>
            <a:ext cx="2651760" cy="2651760"/>
          </a:xfrm>
          <a:prstGeom prst="roundRect">
            <a:avLst>
              <a:gd name="adj" fmla="val 2414"/>
            </a:avLst>
          </a:prstGeom>
          <a:solidFill>
            <a:srgbClr val="FBF7EE"/>
          </a:solidFill>
        </p:spPr>
      </p:sp>
      <p:pic>
        <p:nvPicPr>
          <p:cNvPr id="7" name="Image 1" descr="D:/ZengQiangXianShi/ArtSource/References/20260908_naiwa_assets/milkyfrog_official/mf-pose-bel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737360"/>
            <a:ext cx="228600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63056" y="1554480"/>
            <a:ext cx="2651760" cy="2651760"/>
          </a:xfrm>
          <a:prstGeom prst="roundRect">
            <a:avLst>
              <a:gd name="adj" fmla="val 2414"/>
            </a:avLst>
          </a:prstGeom>
          <a:solidFill>
            <a:srgbClr val="FBF7EE"/>
          </a:solidFill>
        </p:spPr>
      </p:sp>
      <p:pic>
        <p:nvPicPr>
          <p:cNvPr id="9" name="Image 2" descr="D:/ZengQiangXianShi/ArtSource/References/20260908_naiwa_assets/milkyfrog_official/mf-pose-l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37360"/>
            <a:ext cx="2286000" cy="2286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015984" y="1554480"/>
            <a:ext cx="2651760" cy="2651760"/>
          </a:xfrm>
          <a:prstGeom prst="roundRect">
            <a:avLst>
              <a:gd name="adj" fmla="val 2414"/>
            </a:avLst>
          </a:prstGeom>
          <a:solidFill>
            <a:srgbClr val="FBF7EE"/>
          </a:solidFill>
        </p:spPr>
      </p:sp>
      <p:pic>
        <p:nvPicPr>
          <p:cNvPr id="11" name="Image 3" descr="D:/ZengQiangXianShi/ArtSource/References/20260908_naiwa_assets/milkyfrog_official/mf-pose-rol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737360"/>
            <a:ext cx="2286000" cy="2286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431596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姿态参考（站姿 / 捧腹 / 侧躺 / 打滚）——仅作造型与动作参考，最终形象为原创设计，不精确复刻现有 IP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57200" y="464515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比例基准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920240" y="4645152"/>
            <a:ext cx="9784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总高 20cm：头约占 0.30H，下腹最宽 0.72H，无脖子、连续背部弧线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57200" y="4992624"/>
            <a:ext cx="11274552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501091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骨骼与表情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920240" y="5010912"/>
            <a:ext cx="9784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7 根骨骼（头根/脊柱/双肩/双髋/尾根）+ 形状键做张口闭眼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57200" y="5358384"/>
            <a:ext cx="11274552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57200" y="537667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首轮验收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920240" y="5376672"/>
            <a:ext cx="9784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仅待机 + 进食两个动作 → FBX 入 Unity 校验后再扩展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5724144"/>
            <a:ext cx="11274552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7200" y="574243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配色实测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920240" y="5742432"/>
            <a:ext cx="9784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体色 #F5C24B · 腹部 #F6ECDB · 手脚 #5B3E19 · 眼圈 #7BA459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6089904"/>
            <a:ext cx="11274552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61081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风险备选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920240" y="6108192"/>
            <a:ext cx="9784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三维受阻则降级二维序列帧——不解决跟踪问题，须同步修订边界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关键选型：为什么是 Vuforia，而不是 ARKit / ARCore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课件介绍了 ARKit / ARCore / AR Foundation / Vuforia 四条路线——本课题按设备条件取捨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657600" cy="3520440"/>
          </a:xfrm>
          <a:prstGeom prst="roundRect">
            <a:avLst>
              <a:gd name="adj" fmla="val 1818"/>
            </a:avLst>
          </a:prstGeom>
          <a:solidFill>
            <a:srgbClr val="FBF7EE"/>
          </a:solidFill>
        </p:spPr>
      </p:sp>
      <p:sp>
        <p:nvSpPr>
          <p:cNvPr id="5" name="Text 3"/>
          <p:cNvSpPr/>
          <p:nvPr/>
        </p:nvSpPr>
        <p:spPr>
          <a:xfrm>
            <a:off x="713232" y="1700784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ARKit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Apple · 仅 iOS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779776"/>
            <a:ext cx="3145536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目标设备 iQOO Z9 Turbo 为 Android 15，ARKit 平台根本不可用，无讨论空间。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445312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A33B2E"/>
          </a:solidFill>
        </p:spPr>
      </p:sp>
      <p:sp>
        <p:nvSpPr>
          <p:cNvPr id="9" name="Text 7"/>
          <p:cNvSpPr/>
          <p:nvPr/>
        </p:nvSpPr>
        <p:spPr>
          <a:xfrm>
            <a:off x="713232" y="44531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 · 平台不容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8264" y="1481328"/>
            <a:ext cx="3657600" cy="3520440"/>
          </a:xfrm>
          <a:prstGeom prst="roundRect">
            <a:avLst>
              <a:gd name="adj" fmla="val 1818"/>
            </a:avLst>
          </a:prstGeom>
          <a:solidFill>
            <a:srgbClr val="FBF7EE"/>
          </a:solidFill>
        </p:spPr>
      </p:sp>
      <p:sp>
        <p:nvSpPr>
          <p:cNvPr id="11" name="Text 9"/>
          <p:cNvSpPr/>
          <p:nvPr/>
        </p:nvSpPr>
        <p:spPr>
          <a:xfrm>
            <a:off x="4654296" y="1700784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ARCore / AR Foundation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54296" y="2377440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Google · Android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54296" y="2779776"/>
            <a:ext cx="3145536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该机型未列入 ARCore 官方支持列表；国行系统通常无 GMS。AR Foundation 只是封装层，底层仍依赖 ARCore，绕不开认证门槛。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54296" y="445312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A33B2E"/>
          </a:solidFill>
        </p:spPr>
      </p:sp>
      <p:sp>
        <p:nvSpPr>
          <p:cNvPr id="15" name="Text 13"/>
          <p:cNvSpPr/>
          <p:nvPr/>
        </p:nvSpPr>
        <p:spPr>
          <a:xfrm>
            <a:off x="4654296" y="44531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 · 设备不容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39328" y="1481328"/>
            <a:ext cx="3657600" cy="3520440"/>
          </a:xfrm>
          <a:prstGeom prst="roundRect">
            <a:avLst>
              <a:gd name="adj" fmla="val 1818"/>
            </a:avLst>
          </a:prstGeom>
          <a:solidFill>
            <a:srgbClr val="F8F1E2"/>
          </a:solidFill>
        </p:spPr>
      </p:sp>
      <p:sp>
        <p:nvSpPr>
          <p:cNvPr id="17" name="Text 15"/>
          <p:cNvSpPr/>
          <p:nvPr/>
        </p:nvSpPr>
        <p:spPr>
          <a:xfrm>
            <a:off x="8595360" y="1700784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Vuforia Image Targets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95360" y="2377440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本课题选用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95360" y="2779776"/>
            <a:ext cx="3145536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纯视觉跟踪，不依赖系统 AR 服务与 GMS；Image Targets 恰好匹配“卡片定位 + 双卡投喂”；无需 SLAM、平面检测与环境理解。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95360" y="445312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6E9B4E"/>
          </a:solidFill>
        </p:spPr>
      </p:sp>
      <p:sp>
        <p:nvSpPr>
          <p:cNvPr id="21" name="Text 19"/>
          <p:cNvSpPr/>
          <p:nvPr/>
        </p:nvSpPr>
        <p:spPr>
          <a:xfrm>
            <a:off x="8595360" y="44531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选用 · 确定性最高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230368"/>
            <a:ext cx="11274552" cy="1078992"/>
          </a:xfrm>
          <a:prstGeom prst="roundRect">
            <a:avLst>
              <a:gd name="adj" fmla="val 5932"/>
            </a:avLst>
          </a:prstGeom>
          <a:solidFill>
            <a:srgbClr val="26201A"/>
          </a:solidFill>
        </p:spPr>
      </p:sp>
      <p:sp>
        <p:nvSpPr>
          <p:cNvPr id="23" name="Text 21"/>
          <p:cNvSpPr/>
          <p:nvPr/>
        </p:nvSpPr>
        <p:spPr>
          <a:xfrm>
            <a:off x="822960" y="5340096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C9B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一切以第 1 周真机样例实测为准；若实测设备支持 ARCore，两者可兼容共存。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技术路线与开发环境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Unity 6 LTS（补丁版本待真机样例锁定）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75104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3911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Vuforia Image Targets：先单目标，后双目标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51176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1518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615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C# 行为状态机（优先级 / 冷却 / 一次性结算）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9125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19125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Animator + Generic 骨骼（非人形，不用重定向）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6732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37673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5.1.1 + bpy 脚本化 → FBX / 贴图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434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343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uGUI，适配手机与平板安全区域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1947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91947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ScriptableObject 配置 / 版本化 JSON 存档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431536"/>
            <a:ext cx="653796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49554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08760" y="549554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Android Build Support · ARM64 · 配套 SDK/NDK/JDK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1463040"/>
            <a:ext cx="3959352" cy="4480560"/>
          </a:xfrm>
          <a:prstGeom prst="roundRect">
            <a:avLst>
              <a:gd name="adj" fmla="val 1617"/>
            </a:avLst>
          </a:prstGeom>
          <a:solidFill>
            <a:srgbClr val="F8F1E2"/>
          </a:solidFill>
        </p:spPr>
      </p:sp>
      <p:sp>
        <p:nvSpPr>
          <p:cNvPr id="27" name="Text 25"/>
          <p:cNvSpPr/>
          <p:nvPr/>
        </p:nvSpPr>
        <p:spPr>
          <a:xfrm>
            <a:off x="8046720" y="1691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环境现状（2026-09 核查）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2148840"/>
            <a:ext cx="347472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已具备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Unity Hub + 2022.3.62f1c1（缺 Android Build Support）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5.1.1（bpy 后台调用已跑通）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 Android SDK（API 36）与 adb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A33B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待完成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Vuforia 支持表锁定并安装 Unity 版本 + Android Build Support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 Vuforia 开发密钥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真机跑通官方样例，锁定渲染管线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实施计划：约 4 周（2026-09-08 起算）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743200" cy="3017520"/>
          </a:xfrm>
          <a:prstGeom prst="roundRect">
            <a:avLst>
              <a:gd name="adj" fmla="val 2333"/>
            </a:avLst>
          </a:prstGeom>
          <a:solidFill>
            <a:srgbClr val="F8F1E2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783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221284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09-08 ~ 09-14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2633472"/>
            <a:ext cx="2340864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环境锁定、密钥配置、单/双目标真机验证与资产样例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3749040"/>
            <a:ext cx="2340864" cy="0"/>
          </a:xfrm>
          <a:prstGeom prst="line">
            <a:avLst/>
          </a:prstGeom>
          <a:noFill/>
          <a:ln w="12700">
            <a:solidFill>
              <a:srgbClr val="E5DC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840480"/>
            <a:ext cx="234086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 AR APK 与版本记录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3017520"/>
            <a:ext cx="1828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9856" y="1600200"/>
            <a:ext cx="2743200" cy="3017520"/>
          </a:xfrm>
          <a:prstGeom prst="roundRect">
            <a:avLst>
              <a:gd name="adj" fmla="val 2333"/>
            </a:avLst>
          </a:prstGeom>
          <a:solidFill>
            <a:srgbClr val="FBF7EE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1783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21024" y="221284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09-15 ~ 09-21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21024" y="2633472"/>
            <a:ext cx="2340864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实体投喂一次性结算、触屏逗弄、状态机衔接动画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21024" y="3749040"/>
            <a:ext cx="2340864" cy="0"/>
          </a:xfrm>
          <a:prstGeom prst="line">
            <a:avLst/>
          </a:prstGeom>
          <a:noFill/>
          <a:ln w="12700">
            <a:solidFill>
              <a:srgbClr val="E5DC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3840480"/>
            <a:ext cx="234086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核心互动闭环可运行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3017520"/>
            <a:ext cx="1828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82512" y="1600200"/>
            <a:ext cx="2743200" cy="3017520"/>
          </a:xfrm>
          <a:prstGeom prst="roundRect">
            <a:avLst>
              <a:gd name="adj" fmla="val 2333"/>
            </a:avLst>
          </a:prstGeom>
          <a:solidFill>
            <a:srgbClr val="FBF7EE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783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21284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09-22 ~ 09-28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2633472"/>
            <a:ext cx="2340864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追球、反应解锁、本地存档、拍照与界面适配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749040"/>
            <a:ext cx="2340864" cy="0"/>
          </a:xfrm>
          <a:prstGeom prst="line">
            <a:avLst/>
          </a:prstGeom>
          <a:noFill/>
          <a:ln w="12700">
            <a:solidFill>
              <a:srgbClr val="E5DC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840480"/>
            <a:ext cx="234086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功能完整的候选版本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0" y="3017520"/>
            <a:ext cx="182880" cy="0"/>
          </a:xfrm>
          <a:prstGeom prst="line">
            <a:avLst/>
          </a:prstGeom>
          <a:noFill/>
          <a:ln w="27940">
            <a:solidFill>
              <a:srgbClr val="B97E1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45168" y="1600200"/>
            <a:ext cx="2743200" cy="3017520"/>
          </a:xfrm>
          <a:prstGeom prst="roundRect">
            <a:avLst>
              <a:gd name="adj" fmla="val 2333"/>
            </a:avLst>
          </a:prstGeom>
          <a:solidFill>
            <a:srgbClr val="FBF7EE"/>
          </a:solidFill>
          <a:effectLst>
            <a:outerShdw blurRad="88900" dist="25400" dir="2700000" algn="bl" rotWithShape="0">
              <a:srgbClr val="3A2F1E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46336" y="1783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46336" y="221284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09-29 ~ 10-05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46336" y="2633472"/>
            <a:ext cx="2340864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真机测试、缺陷修复、性能测量与答辩材料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46336" y="3749040"/>
            <a:ext cx="2340864" cy="0"/>
          </a:xfrm>
          <a:prstGeom prst="line">
            <a:avLst/>
          </a:prstGeom>
          <a:noFill/>
          <a:ln w="12700">
            <a:solidFill>
              <a:srgbClr val="E5DC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3840480"/>
            <a:ext cx="234086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E9B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APK、源码、资产、测试记录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26201A"/>
          </a:solidFill>
        </p:spPr>
      </p:sp>
      <p:sp>
        <p:nvSpPr>
          <p:cNvPr id="31" name="Text 29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第一周优先门槛　</a:t>
            </a:r>
            <a:r>
              <a:rPr lang="en-US" sz="135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真机运行 APK · 角色稳定附着小窝卡 · 食物卡触发一次进食且移开可再触发 · 跟踪丢失不错误结算。未达成则不进入功能开发，优先排查 SDK / 配置 / 设备。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验证方法与风险应对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阈值在第一周样例后确认；结果必须来自真实测试记录，区分“目标/已测/待验证”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验证矩阵（初步目标）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固定卡面重复 20 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18745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常规条件 ≥18 次成功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03504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87752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587752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重复投喂 / 短暂经过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86200" y="2587752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一次进入仅结算一次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603504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00984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丢失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300984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遮挡/移出后重新对准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86200" y="3300984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丢失即停，恢复规则一致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603504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14216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真机连续互动 ≥5 分钟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6200" y="4014216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30 FPS 起步目标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54296"/>
            <a:ext cx="603504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27448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72744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重启 + 异常存档注入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86200" y="472744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可恢复，异常不致崩溃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367528"/>
            <a:ext cx="6035040" cy="0"/>
          </a:xfrm>
          <a:prstGeom prst="line">
            <a:avLst/>
          </a:prstGeom>
          <a:noFill/>
          <a:ln w="9525">
            <a:solidFill>
              <a:srgbClr val="EDE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440680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44068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3~5 人同一组任务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86200" y="544068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探索性记录，不作统计结论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49440" y="1417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主要风险与应对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9440" y="1874520"/>
            <a:ext cx="4782312" cy="914400"/>
          </a:xfrm>
          <a:prstGeom prst="roundRect">
            <a:avLst>
              <a:gd name="adj" fmla="val 7000"/>
            </a:avLst>
          </a:prstGeom>
          <a:solidFill>
            <a:srgbClr val="FBF7EE"/>
          </a:solidFill>
        </p:spPr>
      </p:sp>
      <p:sp>
        <p:nvSpPr>
          <p:cNvPr id="30" name="Text 28"/>
          <p:cNvSpPr/>
          <p:nvPr/>
        </p:nvSpPr>
        <p:spPr>
          <a:xfrm>
            <a:off x="7178040" y="1965960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环境/真机兼容受阻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2331720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第一周全时攻坚；评估 2022.3 LTS 支持；备机预案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2953512"/>
            <a:ext cx="4782312" cy="914400"/>
          </a:xfrm>
          <a:prstGeom prst="roundRect">
            <a:avLst>
              <a:gd name="adj" fmla="val 7000"/>
            </a:avLst>
          </a:prstGeom>
          <a:solidFill>
            <a:srgbClr val="FBF7EE"/>
          </a:solidFill>
        </p:spPr>
      </p:sp>
      <p:sp>
        <p:nvSpPr>
          <p:cNvPr id="33" name="Text 31"/>
          <p:cNvSpPr/>
          <p:nvPr/>
        </p:nvSpPr>
        <p:spPr>
          <a:xfrm>
            <a:off x="7178040" y="304495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双目标跟踪不稳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34107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特征清晰卡面；先单目标；实测恢复表现再引入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49440" y="4032504"/>
            <a:ext cx="4782312" cy="914400"/>
          </a:xfrm>
          <a:prstGeom prst="roundRect">
            <a:avLst>
              <a:gd name="adj" fmla="val 7000"/>
            </a:avLst>
          </a:prstGeom>
          <a:solidFill>
            <a:srgbClr val="FBF7EE"/>
          </a:solidFill>
        </p:spPr>
      </p:sp>
      <p:sp>
        <p:nvSpPr>
          <p:cNvPr id="36" name="Text 34"/>
          <p:cNvSpPr/>
          <p:nvPr/>
        </p:nvSpPr>
        <p:spPr>
          <a:xfrm>
            <a:off x="7178040" y="4123944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三维资产超期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448970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先做两动作；二维序列帧备选并修订边界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5111496"/>
            <a:ext cx="4782312" cy="914400"/>
          </a:xfrm>
          <a:prstGeom prst="roundRect">
            <a:avLst>
              <a:gd name="adj" fmla="val 7000"/>
            </a:avLst>
          </a:prstGeom>
          <a:solidFill>
            <a:srgbClr val="FBF7EE"/>
          </a:solidFill>
        </p:spPr>
      </p:sp>
      <p:sp>
        <p:nvSpPr>
          <p:cNvPr id="39" name="Text 37"/>
          <p:cNvSpPr/>
          <p:nvPr/>
        </p:nvSpPr>
        <p:spPr>
          <a:xfrm>
            <a:off x="7178040" y="52029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交互误触发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78040" y="5568696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距离+高度+停留+冷却+再进入多重判定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桌上有龙 · 开题报告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ZengQiangXianShi/ArtSource/References/20260908_naiwa_assets/milkyfrog_official/mf-pose-ly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834640"/>
            <a:ext cx="356616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9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预期成果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155448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可安装的 Android APK（ARM64）与 Unity 工程源码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角色资产包：Blender 源文件 + FBX / 贴图 + 来源记录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可打印小窝卡 / 食物卡与实际尺寸说明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使用说明、真机测试记录与已知限制清单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5EF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课程设计报告、演示录像与答辩材料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160520"/>
            <a:ext cx="6400800" cy="0"/>
          </a:xfrm>
          <a:prstGeom prst="line">
            <a:avLst/>
          </a:prstGeom>
          <a:noFill/>
          <a:ln w="12700">
            <a:solidFill>
              <a:srgbClr val="4A3E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434840"/>
            <a:ext cx="6766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 · 恳请各位老师指正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52120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8D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 14 项见《开题报告》正文 · 竞品事实检索日期 2026-09-09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8D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角色形象仅作风格参考 · 最终为原创设计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5148</Words>
  <Application>WPS 演示</Application>
  <PresentationFormat>On-screen Show (16:9)</PresentationFormat>
  <Paragraphs>627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基于图像跟踪与行为状态驱动的移动AR萌宠互动系统设计与实现</dc:title>
  <dc:creator>课程设计</dc:creator>
  <dc:subject>PptxGenJS Presentation</dc:subject>
  <cp:lastModifiedBy>红烧酱肘子</cp:lastModifiedBy>
  <cp:revision>2</cp:revision>
  <dcterms:created xsi:type="dcterms:W3CDTF">2026-09-10T04:32:00Z</dcterms:created>
  <dcterms:modified xsi:type="dcterms:W3CDTF">2026-09-10T04:42:54Z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9C4A7D7E1482476897C1A33FF5E33644_12</vt:lpwstr>
  </property>
</Properties>
</file>